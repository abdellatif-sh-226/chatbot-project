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93B"/>
        </a:solidFill>
        <a:effectLst/>
      </p:bgPr>
    </p:bg>
    <p:spTree>
      <p:nvGrpSpPr>
        <p:cNvPr id="1" name=""/>
        <p:cNvGrpSpPr/>
        <p:nvPr/>
      </p:nvGrpSpPr>
      <p:grpSpPr/>
      <p:sp>
        <p:nvSpPr>
          <p:cNvPr id="2" name="TextBox 1"/>
          <p:cNvSpPr txBox="1"/>
          <p:nvPr/>
        </p:nvSpPr>
        <p:spPr>
          <a:xfrm>
            <a:off x="914400" y="1828800"/>
            <a:ext cx="10058400" cy="1371600"/>
          </a:xfrm>
          <a:prstGeom prst="rect">
            <a:avLst/>
          </a:prstGeom>
          <a:noFill/>
        </p:spPr>
        <p:txBody>
          <a:bodyPr wrap="square">
            <a:spAutoFit/>
          </a:bodyPr>
          <a:lstStyle/>
          <a:p>
            <a:pPr algn="ctr">
              <a:defRPr sz="4400" b="1">
                <a:solidFill>
                  <a:srgbClr val="FFFFFF"/>
                </a:solidFill>
                <a:latin typeface="Calibri"/>
              </a:defRPr>
            </a:pPr>
            <a:r>
              <a:t>Smart Library Management System</a:t>
            </a:r>
          </a:p>
        </p:txBody>
      </p:sp>
      <p:sp>
        <p:nvSpPr>
          <p:cNvPr id="3" name="TextBox 2"/>
          <p:cNvSpPr txBox="1"/>
          <p:nvPr/>
        </p:nvSpPr>
        <p:spPr>
          <a:xfrm>
            <a:off x="914400" y="3017520"/>
            <a:ext cx="10058400" cy="548640"/>
          </a:xfrm>
          <a:prstGeom prst="rect">
            <a:avLst/>
          </a:prstGeom>
          <a:noFill/>
        </p:spPr>
        <p:txBody>
          <a:bodyPr wrap="square">
            <a:spAutoFit/>
          </a:bodyPr>
          <a:lstStyle/>
          <a:p>
            <a:pPr algn="ctr">
              <a:defRPr sz="2000" b="0">
                <a:solidFill>
                  <a:srgbClr val="64748B"/>
                </a:solidFill>
                <a:latin typeface="Calibri"/>
              </a:defRPr>
            </a:pPr>
            <a:r>
              <a:t>Application de Gestion de Bibliothèque avec Chatbot Intelligent</a:t>
            </a:r>
          </a:p>
        </p:txBody>
      </p:sp>
      <p:sp>
        <p:nvSpPr>
          <p:cNvPr id="4" name="Rectangle 3"/>
          <p:cNvSpPr/>
          <p:nvPr/>
        </p:nvSpPr>
        <p:spPr>
          <a:xfrm>
            <a:off x="5029200" y="3840480"/>
            <a:ext cx="21031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114800"/>
            <a:ext cx="10058400" cy="365760"/>
          </a:xfrm>
          <a:prstGeom prst="rect">
            <a:avLst/>
          </a:prstGeom>
          <a:noFill/>
        </p:spPr>
        <p:txBody>
          <a:bodyPr wrap="square">
            <a:spAutoFit/>
          </a:bodyPr>
          <a:lstStyle/>
          <a:p>
            <a:pPr algn="ctr">
              <a:defRPr sz="1800" b="0">
                <a:solidFill>
                  <a:srgbClr val="64748B"/>
                </a:solidFill>
                <a:latin typeface="Calibri"/>
              </a:defRPr>
            </a:pPr>
            <a:r>
              <a:t>Projet de Fin d'Études</a:t>
            </a:r>
          </a:p>
        </p:txBody>
      </p:sp>
      <p:sp>
        <p:nvSpPr>
          <p:cNvPr id="6" name="TextBox 5"/>
          <p:cNvSpPr txBox="1"/>
          <p:nvPr/>
        </p:nvSpPr>
        <p:spPr>
          <a:xfrm>
            <a:off x="914400" y="4663440"/>
            <a:ext cx="10058400" cy="365760"/>
          </a:xfrm>
          <a:prstGeom prst="rect">
            <a:avLst/>
          </a:prstGeom>
          <a:noFill/>
        </p:spPr>
        <p:txBody>
          <a:bodyPr wrap="square">
            <a:spAutoFit/>
          </a:bodyPr>
          <a:lstStyle/>
          <a:p>
            <a:pPr algn="ctr">
              <a:defRPr sz="1600" b="0">
                <a:solidFill>
                  <a:srgbClr val="64748B"/>
                </a:solidFill>
                <a:latin typeface="Calibri"/>
              </a:defRPr>
            </a:pPr>
            <a:r>
              <a:t>Juin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1E40AF"/>
                </a:solidFill>
                <a:latin typeface="Calibri"/>
              </a:defRPr>
            </a:pPr>
            <a:r>
              <a:t>Sommaire</a:t>
            </a:r>
          </a:p>
        </p:txBody>
      </p:sp>
      <p:sp>
        <p:nvSpPr>
          <p:cNvPr id="3" name="TextBox 2"/>
          <p:cNvSpPr txBox="1"/>
          <p:nvPr/>
        </p:nvSpPr>
        <p:spPr>
          <a:xfrm>
            <a:off x="1371600" y="1645920"/>
            <a:ext cx="9144000" cy="4572000"/>
          </a:xfrm>
          <a:prstGeom prst="rect">
            <a:avLst/>
          </a:prstGeom>
          <a:noFill/>
        </p:spPr>
        <p:txBody>
          <a:bodyPr wrap="square">
            <a:spAutoFit/>
          </a:bodyPr>
          <a:lstStyle/>
          <a:p>
            <a:pPr>
              <a:spcAft>
                <a:spcPts val="800"/>
              </a:spcAft>
              <a:defRPr sz="2200">
                <a:solidFill>
                  <a:srgbClr val="1E293B"/>
                </a:solidFill>
                <a:latin typeface="Calibri"/>
              </a:defRPr>
            </a:pPr>
            <a:r>
              <a:t>1.  Introduction et Contexte</a:t>
            </a:r>
          </a:p>
          <a:p>
            <a:pPr>
              <a:spcAft>
                <a:spcPts val="800"/>
              </a:spcAft>
              <a:defRPr sz="2200">
                <a:solidFill>
                  <a:srgbClr val="1E293B"/>
                </a:solidFill>
                <a:latin typeface="Calibri"/>
              </a:defRPr>
            </a:pPr>
            <a:r>
              <a:t>2.  Objectifs du Projet</a:t>
            </a:r>
          </a:p>
          <a:p>
            <a:pPr>
              <a:spcAft>
                <a:spcPts val="800"/>
              </a:spcAft>
              <a:defRPr sz="2200">
                <a:solidFill>
                  <a:srgbClr val="1E293B"/>
                </a:solidFill>
                <a:latin typeface="Calibri"/>
              </a:defRPr>
            </a:pPr>
            <a:r>
              <a:t>3.  Architecture Technique</a:t>
            </a:r>
          </a:p>
          <a:p>
            <a:pPr>
              <a:spcAft>
                <a:spcPts val="800"/>
              </a:spcAft>
              <a:defRPr sz="2200">
                <a:solidFill>
                  <a:srgbClr val="1E293B"/>
                </a:solidFill>
                <a:latin typeface="Calibri"/>
              </a:defRPr>
            </a:pPr>
            <a:r>
              <a:t>4.  Technologies Utilisées</a:t>
            </a:r>
          </a:p>
          <a:p>
            <a:pPr>
              <a:spcAft>
                <a:spcPts val="800"/>
              </a:spcAft>
              <a:defRPr sz="2200">
                <a:solidFill>
                  <a:srgbClr val="1E293B"/>
                </a:solidFill>
                <a:latin typeface="Calibri"/>
              </a:defRPr>
            </a:pPr>
            <a:r>
              <a:t>5.  Fonctionnalités</a:t>
            </a:r>
          </a:p>
          <a:p>
            <a:pPr>
              <a:spcAft>
                <a:spcPts val="800"/>
              </a:spcAft>
              <a:defRPr sz="2200">
                <a:solidFill>
                  <a:srgbClr val="1E293B"/>
                </a:solidFill>
                <a:latin typeface="Calibri"/>
              </a:defRPr>
            </a:pPr>
            <a:r>
              <a:t>6.  Démonstration</a:t>
            </a:r>
          </a:p>
          <a:p>
            <a:pPr>
              <a:spcAft>
                <a:spcPts val="800"/>
              </a:spcAft>
              <a:defRPr sz="2200">
                <a:solidFill>
                  <a:srgbClr val="1E293B"/>
                </a:solidFill>
                <a:latin typeface="Calibri"/>
              </a:defRPr>
            </a:pPr>
            <a:r>
              <a:t>7.  Conclusion et Perspectives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1E40AF"/>
                </a:solidFill>
                <a:latin typeface="Calibri"/>
              </a:defRPr>
            </a:pPr>
            <a:r>
              <a:t>1. Introduction et Contexte</a:t>
            </a:r>
          </a:p>
        </p:txBody>
      </p:sp>
      <p:sp>
        <p:nvSpPr>
          <p:cNvPr id="3" name="TextBox 2"/>
          <p:cNvSpPr txBox="1"/>
          <p:nvPr/>
        </p:nvSpPr>
        <p:spPr>
          <a:xfrm>
            <a:off x="914400" y="1463040"/>
            <a:ext cx="10058400" cy="914400"/>
          </a:xfrm>
          <a:prstGeom prst="rect">
            <a:avLst/>
          </a:prstGeom>
          <a:noFill/>
        </p:spPr>
        <p:txBody>
          <a:bodyPr wrap="square">
            <a:spAutoFit/>
          </a:bodyPr>
          <a:lstStyle/>
          <a:p>
            <a:pPr algn="l">
              <a:defRPr sz="1800" b="0">
                <a:solidFill>
                  <a:srgbClr val="1E293B"/>
                </a:solidFill>
                <a:latin typeface="Calibri"/>
              </a:defRPr>
            </a:pPr>
            <a:r>
              <a:t>Les bibliothèques traditionnelles font face à des défis de gestion :</a:t>
            </a:r>
          </a:p>
        </p:txBody>
      </p:sp>
      <p:sp>
        <p:nvSpPr>
          <p:cNvPr id="4" name="TextBox 3"/>
          <p:cNvSpPr txBox="1"/>
          <p:nvPr/>
        </p:nvSpPr>
        <p:spPr>
          <a:xfrm>
            <a:off x="1097280" y="2286000"/>
            <a:ext cx="10058400" cy="2743200"/>
          </a:xfrm>
          <a:prstGeom prst="rect">
            <a:avLst/>
          </a:prstGeom>
          <a:noFill/>
        </p:spPr>
        <p:txBody>
          <a:bodyPr wrap="square">
            <a:spAutoFit/>
          </a:bodyPr>
          <a:lstStyle/>
          <a:p>
            <a:pPr>
              <a:spcAft>
                <a:spcPts val="800"/>
              </a:spcAft>
              <a:defRPr sz="1700">
                <a:solidFill>
                  <a:srgbClr val="1E293B"/>
                </a:solidFill>
                <a:latin typeface="Calibri"/>
              </a:defRPr>
            </a:pPr>
            <a:r>
              <a:t>Gestion manuelle des livres et des adhérents chronophage</a:t>
            </a:r>
          </a:p>
          <a:p>
            <a:pPr>
              <a:spcAft>
                <a:spcPts val="800"/>
              </a:spcAft>
              <a:defRPr sz="1700">
                <a:solidFill>
                  <a:srgbClr val="1E293B"/>
                </a:solidFill>
                <a:latin typeface="Calibri"/>
              </a:defRPr>
            </a:pPr>
            <a:r>
              <a:t>Difficulté de suivi des emprunts et des retours</a:t>
            </a:r>
          </a:p>
          <a:p>
            <a:pPr>
              <a:spcAft>
                <a:spcPts val="800"/>
              </a:spcAft>
              <a:defRPr sz="1700">
                <a:solidFill>
                  <a:srgbClr val="1E293B"/>
                </a:solidFill>
                <a:latin typeface="Calibri"/>
              </a:defRPr>
            </a:pPr>
            <a:r>
              <a:t>Recherche de livres peu intuitive</a:t>
            </a:r>
          </a:p>
          <a:p>
            <a:pPr>
              <a:spcAft>
                <a:spcPts val="800"/>
              </a:spcAft>
              <a:defRPr sz="1700">
                <a:solidFill>
                  <a:srgbClr val="1E293B"/>
                </a:solidFill>
                <a:latin typeface="Calibri"/>
              </a:defRPr>
            </a:pPr>
            <a:r>
              <a:t>Absence d'assistant intelligent pour les utilisateurs</a:t>
            </a:r>
          </a:p>
        </p:txBody>
      </p:sp>
      <p:sp>
        <p:nvSpPr>
          <p:cNvPr id="5" name="TextBox 4"/>
          <p:cNvSpPr txBox="1"/>
          <p:nvPr/>
        </p:nvSpPr>
        <p:spPr>
          <a:xfrm>
            <a:off x="914400" y="4572000"/>
            <a:ext cx="10058400" cy="914400"/>
          </a:xfrm>
          <a:prstGeom prst="rect">
            <a:avLst/>
          </a:prstGeom>
          <a:noFill/>
        </p:spPr>
        <p:txBody>
          <a:bodyPr wrap="square">
            <a:spAutoFit/>
          </a:bodyPr>
          <a:lstStyle/>
          <a:p>
            <a:pPr algn="l">
              <a:defRPr sz="1800" b="1">
                <a:solidFill>
                  <a:srgbClr val="2563EB"/>
                </a:solidFill>
                <a:latin typeface="Calibri"/>
              </a:defRPr>
            </a:pPr>
            <a:r>
              <a:t>Solution proposée : Une application de bureau complète avec une interface moderne, un système de gestion robuste et un chatbot IA.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1E40AF"/>
                </a:solidFill>
                <a:latin typeface="Calibri"/>
              </a:defRPr>
            </a:pPr>
            <a:r>
              <a:t>2. Objectifs du Projet</a:t>
            </a:r>
          </a:p>
        </p:txBody>
      </p:sp>
      <p:sp>
        <p:nvSpPr>
          <p:cNvPr id="3" name="TextBox 2"/>
          <p:cNvSpPr txBox="1"/>
          <p:nvPr/>
        </p:nvSpPr>
        <p:spPr>
          <a:xfrm>
            <a:off x="1097280" y="1371600"/>
            <a:ext cx="914400" cy="457200"/>
          </a:xfrm>
          <a:prstGeom prst="rect">
            <a:avLst/>
          </a:prstGeom>
          <a:noFill/>
        </p:spPr>
        <p:txBody>
          <a:bodyPr wrap="square">
            <a:spAutoFit/>
          </a:bodyPr>
          <a:lstStyle/>
          <a:p>
            <a:pPr algn="l">
              <a:defRPr sz="2400" b="0">
                <a:solidFill>
                  <a:srgbClr val="16A34A"/>
                </a:solidFill>
                <a:latin typeface="Calibri"/>
              </a:defRPr>
            </a:pPr>
            <a:r>
              <a:t>✅</a:t>
            </a:r>
          </a:p>
        </p:txBody>
      </p:sp>
      <p:sp>
        <p:nvSpPr>
          <p:cNvPr id="4" name="TextBox 3"/>
          <p:cNvSpPr txBox="1"/>
          <p:nvPr/>
        </p:nvSpPr>
        <p:spPr>
          <a:xfrm>
            <a:off x="1828800" y="1325880"/>
            <a:ext cx="8229600" cy="365760"/>
          </a:xfrm>
          <a:prstGeom prst="rect">
            <a:avLst/>
          </a:prstGeom>
          <a:noFill/>
        </p:spPr>
        <p:txBody>
          <a:bodyPr wrap="square">
            <a:spAutoFit/>
          </a:bodyPr>
          <a:lstStyle/>
          <a:p>
            <a:pPr algn="l">
              <a:defRPr sz="1800" b="1">
                <a:solidFill>
                  <a:srgbClr val="1E293B"/>
                </a:solidFill>
                <a:latin typeface="Calibri"/>
              </a:defRPr>
            </a:pPr>
            <a:r>
              <a:t>Gestion complète des livres</a:t>
            </a:r>
          </a:p>
        </p:txBody>
      </p:sp>
      <p:sp>
        <p:nvSpPr>
          <p:cNvPr id="5" name="TextBox 4"/>
          <p:cNvSpPr txBox="1"/>
          <p:nvPr/>
        </p:nvSpPr>
        <p:spPr>
          <a:xfrm>
            <a:off x="1828800" y="1691640"/>
            <a:ext cx="8229600" cy="365760"/>
          </a:xfrm>
          <a:prstGeom prst="rect">
            <a:avLst/>
          </a:prstGeom>
          <a:noFill/>
        </p:spPr>
        <p:txBody>
          <a:bodyPr wrap="square">
            <a:spAutoFit/>
          </a:bodyPr>
          <a:lstStyle/>
          <a:p>
            <a:pPr algn="l">
              <a:defRPr sz="1400" b="0">
                <a:solidFill>
                  <a:srgbClr val="64748B"/>
                </a:solidFill>
                <a:latin typeface="Calibri"/>
              </a:defRPr>
            </a:pPr>
            <a:r>
              <a:t>Ajout, modification, suppression, recherche et filtres avancés</a:t>
            </a:r>
          </a:p>
        </p:txBody>
      </p:sp>
      <p:sp>
        <p:nvSpPr>
          <p:cNvPr id="6" name="TextBox 5"/>
          <p:cNvSpPr txBox="1"/>
          <p:nvPr/>
        </p:nvSpPr>
        <p:spPr>
          <a:xfrm>
            <a:off x="1097280" y="2148840"/>
            <a:ext cx="914400" cy="457200"/>
          </a:xfrm>
          <a:prstGeom prst="rect">
            <a:avLst/>
          </a:prstGeom>
          <a:noFill/>
        </p:spPr>
        <p:txBody>
          <a:bodyPr wrap="square">
            <a:spAutoFit/>
          </a:bodyPr>
          <a:lstStyle/>
          <a:p>
            <a:pPr algn="l">
              <a:defRPr sz="2400" b="0">
                <a:solidFill>
                  <a:srgbClr val="16A34A"/>
                </a:solidFill>
                <a:latin typeface="Calibri"/>
              </a:defRPr>
            </a:pPr>
            <a:r>
              <a:t>✅</a:t>
            </a:r>
          </a:p>
        </p:txBody>
      </p:sp>
      <p:sp>
        <p:nvSpPr>
          <p:cNvPr id="7" name="TextBox 6"/>
          <p:cNvSpPr txBox="1"/>
          <p:nvPr/>
        </p:nvSpPr>
        <p:spPr>
          <a:xfrm>
            <a:off x="1828800" y="2103120"/>
            <a:ext cx="8229600" cy="365760"/>
          </a:xfrm>
          <a:prstGeom prst="rect">
            <a:avLst/>
          </a:prstGeom>
          <a:noFill/>
        </p:spPr>
        <p:txBody>
          <a:bodyPr wrap="square">
            <a:spAutoFit/>
          </a:bodyPr>
          <a:lstStyle/>
          <a:p>
            <a:pPr algn="l">
              <a:defRPr sz="1800" b="1">
                <a:solidFill>
                  <a:srgbClr val="1E293B"/>
                </a:solidFill>
                <a:latin typeface="Calibri"/>
              </a:defRPr>
            </a:pPr>
            <a:r>
              <a:t>Authentification sécurisée</a:t>
            </a:r>
          </a:p>
        </p:txBody>
      </p:sp>
      <p:sp>
        <p:nvSpPr>
          <p:cNvPr id="8" name="TextBox 7"/>
          <p:cNvSpPr txBox="1"/>
          <p:nvPr/>
        </p:nvSpPr>
        <p:spPr>
          <a:xfrm>
            <a:off x="1828800" y="2468880"/>
            <a:ext cx="8229600" cy="365760"/>
          </a:xfrm>
          <a:prstGeom prst="rect">
            <a:avLst/>
          </a:prstGeom>
          <a:noFill/>
        </p:spPr>
        <p:txBody>
          <a:bodyPr wrap="square">
            <a:spAutoFit/>
          </a:bodyPr>
          <a:lstStyle/>
          <a:p>
            <a:pPr algn="l">
              <a:defRPr sz="1400" b="0">
                <a:solidFill>
                  <a:srgbClr val="64748B"/>
                </a:solidFill>
                <a:latin typeface="Calibri"/>
              </a:defRPr>
            </a:pPr>
            <a:r>
              <a:t>JWT avec rôles administrateur et membre</a:t>
            </a:r>
          </a:p>
        </p:txBody>
      </p:sp>
      <p:sp>
        <p:nvSpPr>
          <p:cNvPr id="9" name="TextBox 8"/>
          <p:cNvSpPr txBox="1"/>
          <p:nvPr/>
        </p:nvSpPr>
        <p:spPr>
          <a:xfrm>
            <a:off x="1097280" y="2926080"/>
            <a:ext cx="914400" cy="457200"/>
          </a:xfrm>
          <a:prstGeom prst="rect">
            <a:avLst/>
          </a:prstGeom>
          <a:noFill/>
        </p:spPr>
        <p:txBody>
          <a:bodyPr wrap="square">
            <a:spAutoFit/>
          </a:bodyPr>
          <a:lstStyle/>
          <a:p>
            <a:pPr algn="l">
              <a:defRPr sz="2400" b="0">
                <a:solidFill>
                  <a:srgbClr val="16A34A"/>
                </a:solidFill>
                <a:latin typeface="Calibri"/>
              </a:defRPr>
            </a:pPr>
            <a:r>
              <a:t>✅</a:t>
            </a:r>
          </a:p>
        </p:txBody>
      </p:sp>
      <p:sp>
        <p:nvSpPr>
          <p:cNvPr id="10" name="TextBox 9"/>
          <p:cNvSpPr txBox="1"/>
          <p:nvPr/>
        </p:nvSpPr>
        <p:spPr>
          <a:xfrm>
            <a:off x="1828800" y="2880360"/>
            <a:ext cx="8229600" cy="365760"/>
          </a:xfrm>
          <a:prstGeom prst="rect">
            <a:avLst/>
          </a:prstGeom>
          <a:noFill/>
        </p:spPr>
        <p:txBody>
          <a:bodyPr wrap="square">
            <a:spAutoFit/>
          </a:bodyPr>
          <a:lstStyle/>
          <a:p>
            <a:pPr algn="l">
              <a:defRPr sz="1800" b="1">
                <a:solidFill>
                  <a:srgbClr val="1E293B"/>
                </a:solidFill>
                <a:latin typeface="Calibri"/>
              </a:defRPr>
            </a:pPr>
            <a:r>
              <a:t>Réservation et emprunt</a:t>
            </a:r>
          </a:p>
        </p:txBody>
      </p:sp>
      <p:sp>
        <p:nvSpPr>
          <p:cNvPr id="11" name="TextBox 10"/>
          <p:cNvSpPr txBox="1"/>
          <p:nvPr/>
        </p:nvSpPr>
        <p:spPr>
          <a:xfrm>
            <a:off x="1828800" y="3246120"/>
            <a:ext cx="8229600" cy="365760"/>
          </a:xfrm>
          <a:prstGeom prst="rect">
            <a:avLst/>
          </a:prstGeom>
          <a:noFill/>
        </p:spPr>
        <p:txBody>
          <a:bodyPr wrap="square">
            <a:spAutoFit/>
          </a:bodyPr>
          <a:lstStyle/>
          <a:p>
            <a:pPr algn="l">
              <a:defRPr sz="1400" b="0">
                <a:solidFill>
                  <a:srgbClr val="64748B"/>
                </a:solidFill>
                <a:latin typeface="Calibri"/>
              </a:defRPr>
            </a:pPr>
            <a:r>
              <a:t>Workflow complet de la réservation au retour</a:t>
            </a:r>
          </a:p>
        </p:txBody>
      </p:sp>
      <p:sp>
        <p:nvSpPr>
          <p:cNvPr id="12" name="TextBox 11"/>
          <p:cNvSpPr txBox="1"/>
          <p:nvPr/>
        </p:nvSpPr>
        <p:spPr>
          <a:xfrm>
            <a:off x="1097280" y="3703320"/>
            <a:ext cx="914400" cy="457200"/>
          </a:xfrm>
          <a:prstGeom prst="rect">
            <a:avLst/>
          </a:prstGeom>
          <a:noFill/>
        </p:spPr>
        <p:txBody>
          <a:bodyPr wrap="square">
            <a:spAutoFit/>
          </a:bodyPr>
          <a:lstStyle/>
          <a:p>
            <a:pPr algn="l">
              <a:defRPr sz="2400" b="0">
                <a:solidFill>
                  <a:srgbClr val="16A34A"/>
                </a:solidFill>
                <a:latin typeface="Calibri"/>
              </a:defRPr>
            </a:pPr>
            <a:r>
              <a:t>✅</a:t>
            </a:r>
          </a:p>
        </p:txBody>
      </p:sp>
      <p:sp>
        <p:nvSpPr>
          <p:cNvPr id="13" name="TextBox 12"/>
          <p:cNvSpPr txBox="1"/>
          <p:nvPr/>
        </p:nvSpPr>
        <p:spPr>
          <a:xfrm>
            <a:off x="1828800" y="3657600"/>
            <a:ext cx="8229600" cy="365760"/>
          </a:xfrm>
          <a:prstGeom prst="rect">
            <a:avLst/>
          </a:prstGeom>
          <a:noFill/>
        </p:spPr>
        <p:txBody>
          <a:bodyPr wrap="square">
            <a:spAutoFit/>
          </a:bodyPr>
          <a:lstStyle/>
          <a:p>
            <a:pPr algn="l">
              <a:defRPr sz="1800" b="1">
                <a:solidFill>
                  <a:srgbClr val="1E293B"/>
                </a:solidFill>
                <a:latin typeface="Calibri"/>
              </a:defRPr>
            </a:pPr>
            <a:r>
              <a:t>Chatbot Intelligent</a:t>
            </a:r>
          </a:p>
        </p:txBody>
      </p:sp>
      <p:sp>
        <p:nvSpPr>
          <p:cNvPr id="14" name="TextBox 13"/>
          <p:cNvSpPr txBox="1"/>
          <p:nvPr/>
        </p:nvSpPr>
        <p:spPr>
          <a:xfrm>
            <a:off x="1828800" y="4023359"/>
            <a:ext cx="8229600" cy="365760"/>
          </a:xfrm>
          <a:prstGeom prst="rect">
            <a:avLst/>
          </a:prstGeom>
          <a:noFill/>
        </p:spPr>
        <p:txBody>
          <a:bodyPr wrap="square">
            <a:spAutoFit/>
          </a:bodyPr>
          <a:lstStyle/>
          <a:p>
            <a:pPr algn="l">
              <a:defRPr sz="1400" b="0">
                <a:solidFill>
                  <a:srgbClr val="64748B"/>
                </a:solidFill>
                <a:latin typeface="Calibri"/>
              </a:defRPr>
            </a:pPr>
            <a:r>
              <a:t>Assistant IA basé sur Google Gemini</a:t>
            </a:r>
          </a:p>
        </p:txBody>
      </p:sp>
      <p:sp>
        <p:nvSpPr>
          <p:cNvPr id="15" name="TextBox 14"/>
          <p:cNvSpPr txBox="1"/>
          <p:nvPr/>
        </p:nvSpPr>
        <p:spPr>
          <a:xfrm>
            <a:off x="1097280" y="4480560"/>
            <a:ext cx="914400" cy="457200"/>
          </a:xfrm>
          <a:prstGeom prst="rect">
            <a:avLst/>
          </a:prstGeom>
          <a:noFill/>
        </p:spPr>
        <p:txBody>
          <a:bodyPr wrap="square">
            <a:spAutoFit/>
          </a:bodyPr>
          <a:lstStyle/>
          <a:p>
            <a:pPr algn="l">
              <a:defRPr sz="2400" b="0">
                <a:solidFill>
                  <a:srgbClr val="16A34A"/>
                </a:solidFill>
                <a:latin typeface="Calibri"/>
              </a:defRPr>
            </a:pPr>
            <a:r>
              <a:t>✅</a:t>
            </a:r>
          </a:p>
        </p:txBody>
      </p:sp>
      <p:sp>
        <p:nvSpPr>
          <p:cNvPr id="16" name="TextBox 15"/>
          <p:cNvSpPr txBox="1"/>
          <p:nvPr/>
        </p:nvSpPr>
        <p:spPr>
          <a:xfrm>
            <a:off x="1828800" y="4434840"/>
            <a:ext cx="8229600" cy="365760"/>
          </a:xfrm>
          <a:prstGeom prst="rect">
            <a:avLst/>
          </a:prstGeom>
          <a:noFill/>
        </p:spPr>
        <p:txBody>
          <a:bodyPr wrap="square">
            <a:spAutoFit/>
          </a:bodyPr>
          <a:lstStyle/>
          <a:p>
            <a:pPr algn="l">
              <a:defRPr sz="1800" b="1">
                <a:solidFill>
                  <a:srgbClr val="1E293B"/>
                </a:solidFill>
                <a:latin typeface="Calibri"/>
              </a:defRPr>
            </a:pPr>
            <a:r>
              <a:t>Interface professionnelle</a:t>
            </a:r>
          </a:p>
        </p:txBody>
      </p:sp>
      <p:sp>
        <p:nvSpPr>
          <p:cNvPr id="17" name="TextBox 16"/>
          <p:cNvSpPr txBox="1"/>
          <p:nvPr/>
        </p:nvSpPr>
        <p:spPr>
          <a:xfrm>
            <a:off x="1828800" y="4800600"/>
            <a:ext cx="8229600" cy="365760"/>
          </a:xfrm>
          <a:prstGeom prst="rect">
            <a:avLst/>
          </a:prstGeom>
          <a:noFill/>
        </p:spPr>
        <p:txBody>
          <a:bodyPr wrap="square">
            <a:spAutoFit/>
          </a:bodyPr>
          <a:lstStyle/>
          <a:p>
            <a:pPr algn="l">
              <a:defRPr sz="1400" b="0">
                <a:solidFill>
                  <a:srgbClr val="64748B"/>
                </a:solidFill>
                <a:latin typeface="Calibri"/>
              </a:defRPr>
            </a:pPr>
            <a:r>
              <a:t>Design moderne avec navigation intuitive</a:t>
            </a:r>
          </a:p>
        </p:txBody>
      </p:sp>
      <p:sp>
        <p:nvSpPr>
          <p:cNvPr id="18" name="TextBox 17"/>
          <p:cNvSpPr txBox="1"/>
          <p:nvPr/>
        </p:nvSpPr>
        <p:spPr>
          <a:xfrm>
            <a:off x="1097280" y="5257800"/>
            <a:ext cx="914400" cy="457200"/>
          </a:xfrm>
          <a:prstGeom prst="rect">
            <a:avLst/>
          </a:prstGeom>
          <a:noFill/>
        </p:spPr>
        <p:txBody>
          <a:bodyPr wrap="square">
            <a:spAutoFit/>
          </a:bodyPr>
          <a:lstStyle/>
          <a:p>
            <a:pPr algn="l">
              <a:defRPr sz="2400" b="0">
                <a:solidFill>
                  <a:srgbClr val="16A34A"/>
                </a:solidFill>
                <a:latin typeface="Calibri"/>
              </a:defRPr>
            </a:pPr>
            <a:r>
              <a:t>✅</a:t>
            </a:r>
          </a:p>
        </p:txBody>
      </p:sp>
      <p:sp>
        <p:nvSpPr>
          <p:cNvPr id="19" name="TextBox 18"/>
          <p:cNvSpPr txBox="1"/>
          <p:nvPr/>
        </p:nvSpPr>
        <p:spPr>
          <a:xfrm>
            <a:off x="1828800" y="5212080"/>
            <a:ext cx="8229600" cy="365760"/>
          </a:xfrm>
          <a:prstGeom prst="rect">
            <a:avLst/>
          </a:prstGeom>
          <a:noFill/>
        </p:spPr>
        <p:txBody>
          <a:bodyPr wrap="square">
            <a:spAutoFit/>
          </a:bodyPr>
          <a:lstStyle/>
          <a:p>
            <a:pPr algn="l">
              <a:defRPr sz="1800" b="1">
                <a:solidFill>
                  <a:srgbClr val="1E293B"/>
                </a:solidFill>
                <a:latin typeface="Calibri"/>
              </a:defRPr>
            </a:pPr>
            <a:r>
              <a:t>Administration</a:t>
            </a:r>
          </a:p>
        </p:txBody>
      </p:sp>
      <p:sp>
        <p:nvSpPr>
          <p:cNvPr id="20" name="TextBox 19"/>
          <p:cNvSpPr txBox="1"/>
          <p:nvPr/>
        </p:nvSpPr>
        <p:spPr>
          <a:xfrm>
            <a:off x="1828800" y="5577840"/>
            <a:ext cx="8229600" cy="365760"/>
          </a:xfrm>
          <a:prstGeom prst="rect">
            <a:avLst/>
          </a:prstGeom>
          <a:noFill/>
        </p:spPr>
        <p:txBody>
          <a:bodyPr wrap="square">
            <a:spAutoFit/>
          </a:bodyPr>
          <a:lstStyle/>
          <a:p>
            <a:pPr algn="l">
              <a:defRPr sz="1400" b="0">
                <a:solidFill>
                  <a:srgbClr val="64748B"/>
                </a:solidFill>
                <a:latin typeface="Calibri"/>
              </a:defRPr>
            </a:pPr>
            <a:r>
              <a:t>Statistiques, gestion des utilisateurs, suivi des emprunts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1E40AF"/>
                </a:solidFill>
                <a:latin typeface="Calibri"/>
              </a:defRPr>
            </a:pPr>
            <a:r>
              <a:t>3. Architecture Technique</a:t>
            </a:r>
          </a:p>
        </p:txBody>
      </p:sp>
      <p:sp>
        <p:nvSpPr>
          <p:cNvPr id="3" name="TextBox 2"/>
          <p:cNvSpPr txBox="1"/>
          <p:nvPr/>
        </p:nvSpPr>
        <p:spPr>
          <a:xfrm>
            <a:off x="731520" y="1188720"/>
            <a:ext cx="4572000" cy="365760"/>
          </a:xfrm>
          <a:prstGeom prst="rect">
            <a:avLst/>
          </a:prstGeom>
          <a:noFill/>
        </p:spPr>
        <p:txBody>
          <a:bodyPr wrap="square">
            <a:spAutoFit/>
          </a:bodyPr>
          <a:lstStyle/>
          <a:p>
            <a:pPr algn="l">
              <a:defRPr sz="2000" b="1">
                <a:solidFill>
                  <a:srgbClr val="1E293B"/>
                </a:solidFill>
                <a:latin typeface="Calibri"/>
              </a:defRPr>
            </a:pPr>
            <a:r>
              <a:t>Architecture Client-Serveur</a:t>
            </a:r>
          </a:p>
        </p:txBody>
      </p:sp>
      <p:sp>
        <p:nvSpPr>
          <p:cNvPr id="4" name="Rectangle 3"/>
          <p:cNvSpPr/>
          <p:nvPr/>
        </p:nvSpPr>
        <p:spPr>
          <a:xfrm>
            <a:off x="731520" y="1737360"/>
            <a:ext cx="5029200" cy="73152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Backend : FastAPI (Python)</a:t>
            </a:r>
          </a:p>
          <a:p>
            <a:pPr algn="ctr"/>
            <a:r>
              <a:rPr sz="1100">
                <a:solidFill>
                  <a:srgbClr val="FFFFFF"/>
                </a:solidFill>
                <a:latin typeface="Calibri"/>
              </a:rPr>
              <a:t>API REST / JWT Auth / SQLAlchemy ORM</a:t>
            </a:r>
          </a:p>
        </p:txBody>
      </p:sp>
      <p:sp>
        <p:nvSpPr>
          <p:cNvPr id="5" name="Rectangle 4"/>
          <p:cNvSpPr/>
          <p:nvPr/>
        </p:nvSpPr>
        <p:spPr>
          <a:xfrm>
            <a:off x="731520" y="2743200"/>
            <a:ext cx="5029200" cy="731520"/>
          </a:xfrm>
          <a:prstGeom prst="rect">
            <a:avLst/>
          </a:prstGeom>
          <a:solidFill>
            <a:srgbClr val="4758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Frontend : Tkinter (Python)</a:t>
            </a:r>
          </a:p>
          <a:p>
            <a:pPr algn="ctr"/>
            <a:r>
              <a:rPr sz="1100">
                <a:solidFill>
                  <a:srgbClr val="FFFFFF"/>
                </a:solidFill>
                <a:latin typeface="Calibri"/>
              </a:rPr>
              <a:t>Interface Desktop / ApiClient HTTP</a:t>
            </a:r>
          </a:p>
        </p:txBody>
      </p:sp>
      <p:sp>
        <p:nvSpPr>
          <p:cNvPr id="6" name="Rectangle 5"/>
          <p:cNvSpPr/>
          <p:nvPr/>
        </p:nvSpPr>
        <p:spPr>
          <a:xfrm>
            <a:off x="731520" y="3749039"/>
            <a:ext cx="5029200" cy="7315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Base de Données : MySQL</a:t>
            </a:r>
          </a:p>
          <a:p>
            <a:pPr algn="ctr"/>
            <a:r>
              <a:rPr sz="1100">
                <a:solidFill>
                  <a:srgbClr val="FFFFFF"/>
                </a:solidFill>
                <a:latin typeface="Calibri"/>
              </a:rPr>
              <a:t>4 tables : books, users, reservations, borrowed_books</a:t>
            </a:r>
          </a:p>
        </p:txBody>
      </p:sp>
      <p:sp>
        <p:nvSpPr>
          <p:cNvPr id="7" name="Rectangle 6"/>
          <p:cNvSpPr/>
          <p:nvPr/>
        </p:nvSpPr>
        <p:spPr>
          <a:xfrm>
            <a:off x="6400800" y="1737360"/>
            <a:ext cx="4754880" cy="7315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Communication HTTP / JSON</a:t>
            </a:r>
          </a:p>
          <a:p>
            <a:pPr algn="ctr"/>
            <a:r>
              <a:rPr sz="1100">
                <a:solidFill>
                  <a:srgbClr val="FFFFFF"/>
                </a:solidFill>
                <a:latin typeface="Calibri"/>
              </a:rPr>
              <a:t>REST API over localhost:8000</a:t>
            </a:r>
          </a:p>
        </p:txBody>
      </p:sp>
      <p:sp>
        <p:nvSpPr>
          <p:cNvPr id="8" name="Rectangle 7"/>
          <p:cNvSpPr/>
          <p:nvPr/>
        </p:nvSpPr>
        <p:spPr>
          <a:xfrm>
            <a:off x="6400800" y="2743200"/>
            <a:ext cx="4754880" cy="7315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Google Gemini AI</a:t>
            </a:r>
          </a:p>
          <a:p>
            <a:pPr algn="ctr"/>
            <a:r>
              <a:rPr sz="1100">
                <a:solidFill>
                  <a:srgbClr val="FFFFFF"/>
                </a:solidFill>
                <a:latin typeface="Calibri"/>
              </a:rPr>
              <a:t>Chatbot intelligent intégré</a:t>
            </a:r>
          </a:p>
        </p:txBody>
      </p:sp>
      <p:sp>
        <p:nvSpPr>
          <p:cNvPr id="9" name="Rectangle 8"/>
          <p:cNvSpPr/>
          <p:nvPr/>
        </p:nvSpPr>
        <p:spPr>
          <a:xfrm>
            <a:off x="6400800" y="3749039"/>
            <a:ext cx="4754880" cy="7315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JWT + bcrypt</a:t>
            </a:r>
          </a:p>
          <a:p>
            <a:pPr algn="ctr"/>
            <a:r>
              <a:rPr sz="1100">
                <a:solidFill>
                  <a:srgbClr val="FFFFFF"/>
                </a:solidFill>
                <a:latin typeface="Calibri"/>
              </a:rPr>
              <a:t>Authentification sécurisée</a:t>
            </a:r>
          </a:p>
        </p:txBody>
      </p:sp>
      <p:sp>
        <p:nvSpPr>
          <p:cNvPr id="10" name="TextBox 9"/>
          <p:cNvSpPr txBox="1"/>
          <p:nvPr/>
        </p:nvSpPr>
        <p:spPr>
          <a:xfrm>
            <a:off x="731520" y="5029200"/>
            <a:ext cx="10058400" cy="731520"/>
          </a:xfrm>
          <a:prstGeom prst="rect">
            <a:avLst/>
          </a:prstGeom>
          <a:noFill/>
        </p:spPr>
        <p:txBody>
          <a:bodyPr wrap="square">
            <a:spAutoFit/>
          </a:bodyPr>
          <a:lstStyle/>
          <a:p>
            <a:pPr algn="l">
              <a:defRPr sz="1400" b="0">
                <a:solidFill>
                  <a:srgbClr val="64748B"/>
                </a:solidFill>
                <a:latin typeface="Calibri"/>
              </a:defRPr>
            </a:pPr>
            <a:r>
              <a:t>Le frontend Tkinter communique avec le backend FastAPI via des requêtes HTTP. Le backend expose des endpoints RESTful et interagit avec MySQL via SQLAlchemy. L'API Google Gemini est utilisée pour le module chatbot.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1E40AF"/>
                </a:solidFill>
                <a:latin typeface="Calibri"/>
              </a:defRPr>
            </a:pPr>
            <a:r>
              <a:t>4. Technologies Utilisées</a:t>
            </a:r>
          </a:p>
        </p:txBody>
      </p:sp>
      <p:sp>
        <p:nvSpPr>
          <p:cNvPr id="3" name="Rectangle 2"/>
          <p:cNvSpPr/>
          <p:nvPr/>
        </p:nvSpPr>
        <p:spPr>
          <a:xfrm>
            <a:off x="731520" y="1371600"/>
            <a:ext cx="5303520" cy="9144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Python 3.14</a:t>
            </a:r>
          </a:p>
          <a:p>
            <a:pPr algn="ctr"/>
            <a:r>
              <a:rPr sz="1100">
                <a:solidFill>
                  <a:srgbClr val="FFFFFF"/>
                </a:solidFill>
                <a:latin typeface="Calibri"/>
              </a:rPr>
              <a:t>Langage de programmation principal</a:t>
            </a:r>
          </a:p>
        </p:txBody>
      </p:sp>
      <p:sp>
        <p:nvSpPr>
          <p:cNvPr id="4" name="Rectangle 3"/>
          <p:cNvSpPr/>
          <p:nvPr/>
        </p:nvSpPr>
        <p:spPr>
          <a:xfrm>
            <a:off x="6400800" y="1371600"/>
            <a:ext cx="5303520" cy="9144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FastAPI + Uvicorn</a:t>
            </a:r>
          </a:p>
          <a:p>
            <a:pPr algn="ctr"/>
            <a:r>
              <a:rPr sz="1100">
                <a:solidFill>
                  <a:srgbClr val="FFFFFF"/>
                </a:solidFill>
                <a:latin typeface="Calibri"/>
              </a:rPr>
              <a:t>Framework API REST backend</a:t>
            </a:r>
          </a:p>
        </p:txBody>
      </p:sp>
      <p:sp>
        <p:nvSpPr>
          <p:cNvPr id="5" name="Rectangle 4"/>
          <p:cNvSpPr/>
          <p:nvPr/>
        </p:nvSpPr>
        <p:spPr>
          <a:xfrm>
            <a:off x="731520" y="2560320"/>
            <a:ext cx="5303520" cy="9144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SQLAlchemy + PyMySQL</a:t>
            </a:r>
          </a:p>
          <a:p>
            <a:pPr algn="ctr"/>
            <a:r>
              <a:rPr sz="1100">
                <a:solidFill>
                  <a:srgbClr val="FFFFFF"/>
                </a:solidFill>
                <a:latin typeface="Calibri"/>
              </a:rPr>
              <a:t>ORM et driver MySQL</a:t>
            </a:r>
          </a:p>
        </p:txBody>
      </p:sp>
      <p:sp>
        <p:nvSpPr>
          <p:cNvPr id="6" name="Rectangle 5"/>
          <p:cNvSpPr/>
          <p:nvPr/>
        </p:nvSpPr>
        <p:spPr>
          <a:xfrm>
            <a:off x="6400800" y="2560320"/>
            <a:ext cx="53035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python-jose + passlib</a:t>
            </a:r>
          </a:p>
          <a:p>
            <a:pPr algn="ctr"/>
            <a:r>
              <a:rPr sz="1100">
                <a:solidFill>
                  <a:srgbClr val="FFFFFF"/>
                </a:solidFill>
                <a:latin typeface="Calibri"/>
              </a:rPr>
              <a:t>JWT et hachage bcrypt</a:t>
            </a:r>
          </a:p>
        </p:txBody>
      </p:sp>
      <p:sp>
        <p:nvSpPr>
          <p:cNvPr id="7" name="Rectangle 6"/>
          <p:cNvSpPr/>
          <p:nvPr/>
        </p:nvSpPr>
        <p:spPr>
          <a:xfrm>
            <a:off x="731520" y="3749039"/>
            <a:ext cx="5303520" cy="9144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Google Gemini AI</a:t>
            </a:r>
          </a:p>
          <a:p>
            <a:pPr algn="ctr"/>
            <a:r>
              <a:rPr sz="1100">
                <a:solidFill>
                  <a:srgbClr val="FFFFFF"/>
                </a:solidFill>
                <a:latin typeface="Calibri"/>
              </a:rPr>
              <a:t>IA générative pour le chatbot</a:t>
            </a:r>
          </a:p>
        </p:txBody>
      </p:sp>
      <p:sp>
        <p:nvSpPr>
          <p:cNvPr id="8" name="Rectangle 7"/>
          <p:cNvSpPr/>
          <p:nvPr/>
        </p:nvSpPr>
        <p:spPr>
          <a:xfrm>
            <a:off x="6400800" y="3749039"/>
            <a:ext cx="5303520" cy="9144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Tkinter + Pillow</a:t>
            </a:r>
          </a:p>
          <a:p>
            <a:pPr algn="ctr"/>
            <a:r>
              <a:rPr sz="1100">
                <a:solidFill>
                  <a:srgbClr val="FFFFFF"/>
                </a:solidFill>
                <a:latin typeface="Calibri"/>
              </a:rPr>
              <a:t>Interface graphique et images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1E40AF"/>
                </a:solidFill>
                <a:latin typeface="Calibri"/>
              </a:defRPr>
            </a:pPr>
            <a:r>
              <a:t>5. Fonctionnalités</a:t>
            </a:r>
          </a:p>
        </p:txBody>
      </p:sp>
      <p:sp>
        <p:nvSpPr>
          <p:cNvPr id="3" name="Rectangle 2"/>
          <p:cNvSpPr/>
          <p:nvPr/>
        </p:nvSpPr>
        <p:spPr>
          <a:xfrm>
            <a:off x="731520" y="1371600"/>
            <a:ext cx="3383280" cy="210312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Authentification</a:t>
            </a:r>
          </a:p>
          <a:p>
            <a:pPr algn="ctr"/>
            <a:r>
              <a:rPr sz="1100">
                <a:solidFill>
                  <a:srgbClr val="FFFFFF"/>
                </a:solidFill>
                <a:latin typeface="Calibri"/>
              </a:rPr>
              <a:t>Inscription, connexion,
rôles admin/member</a:t>
            </a:r>
          </a:p>
        </p:txBody>
      </p:sp>
      <p:sp>
        <p:nvSpPr>
          <p:cNvPr id="4" name="Rectangle 3"/>
          <p:cNvSpPr/>
          <p:nvPr/>
        </p:nvSpPr>
        <p:spPr>
          <a:xfrm>
            <a:off x="4480559" y="1371600"/>
            <a:ext cx="3383280" cy="21031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Gestion des Livres</a:t>
            </a:r>
          </a:p>
          <a:p>
            <a:pPr algn="ctr"/>
            <a:r>
              <a:rPr sz="1100">
                <a:solidFill>
                  <a:srgbClr val="FFFFFF"/>
                </a:solidFill>
                <a:latin typeface="Calibri"/>
              </a:rPr>
              <a:t>CRUD, recherche, filtres,
pagination, photos</a:t>
            </a:r>
          </a:p>
        </p:txBody>
      </p:sp>
      <p:sp>
        <p:nvSpPr>
          <p:cNvPr id="5" name="Rectangle 4"/>
          <p:cNvSpPr/>
          <p:nvPr/>
        </p:nvSpPr>
        <p:spPr>
          <a:xfrm>
            <a:off x="8229600" y="1371600"/>
            <a:ext cx="3383280" cy="21031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Réservations</a:t>
            </a:r>
          </a:p>
          <a:p>
            <a:pPr algn="ctr"/>
            <a:r>
              <a:rPr sz="1100">
                <a:solidFill>
                  <a:srgbClr val="FFFFFF"/>
                </a:solidFill>
                <a:latin typeface="Calibri"/>
              </a:rPr>
              <a:t>Demande, acceptation,
rejet, workflow complet</a:t>
            </a:r>
          </a:p>
        </p:txBody>
      </p:sp>
      <p:sp>
        <p:nvSpPr>
          <p:cNvPr id="6" name="Rectangle 5"/>
          <p:cNvSpPr/>
          <p:nvPr/>
        </p:nvSpPr>
        <p:spPr>
          <a:xfrm>
            <a:off x="731520" y="3931920"/>
            <a:ext cx="3383280" cy="2103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Emprunts</a:t>
            </a:r>
          </a:p>
          <a:p>
            <a:pPr algn="ctr"/>
            <a:r>
              <a:rPr sz="1100">
                <a:solidFill>
                  <a:srgbClr val="FFFFFF"/>
                </a:solidFill>
                <a:latin typeface="Calibri"/>
              </a:rPr>
              <a:t>14 jours, suivi délais,
alertes retard/couleurs</a:t>
            </a:r>
          </a:p>
        </p:txBody>
      </p:sp>
      <p:sp>
        <p:nvSpPr>
          <p:cNvPr id="7" name="Rectangle 6"/>
          <p:cNvSpPr/>
          <p:nvPr/>
        </p:nvSpPr>
        <p:spPr>
          <a:xfrm>
            <a:off x="4480559" y="3931920"/>
            <a:ext cx="3383280" cy="21031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Chatbot IA</a:t>
            </a:r>
          </a:p>
          <a:p>
            <a:pPr algn="ctr"/>
            <a:r>
              <a:rPr sz="1100">
                <a:solidFill>
                  <a:srgbClr val="FFFFFF"/>
                </a:solidFill>
                <a:latin typeface="Calibri"/>
              </a:rPr>
              <a:t>Google Gemini,
fallback intelligent</a:t>
            </a:r>
          </a:p>
        </p:txBody>
      </p:sp>
      <p:sp>
        <p:nvSpPr>
          <p:cNvPr id="8" name="Rectangle 7"/>
          <p:cNvSpPr/>
          <p:nvPr/>
        </p:nvSpPr>
        <p:spPr>
          <a:xfrm>
            <a:off x="8229600" y="3931920"/>
            <a:ext cx="3383280" cy="210312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Administration</a:t>
            </a:r>
          </a:p>
          <a:p>
            <a:pPr algn="ctr"/>
            <a:r>
              <a:rPr sz="1100">
                <a:solidFill>
                  <a:srgbClr val="FFFFFF"/>
                </a:solidFill>
                <a:latin typeface="Calibri"/>
              </a:rPr>
              <a:t>Statistiques, utilisateurs,
 vue complète emprunts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1E40AF"/>
                </a:solidFill>
                <a:latin typeface="Calibri"/>
              </a:defRPr>
            </a:pPr>
            <a:r>
              <a:t>Flux d'Authentification</a:t>
            </a:r>
          </a:p>
        </p:txBody>
      </p:sp>
      <p:sp>
        <p:nvSpPr>
          <p:cNvPr id="3" name="Rectangle 2"/>
          <p:cNvSpPr/>
          <p:nvPr/>
        </p:nvSpPr>
        <p:spPr>
          <a:xfrm>
            <a:off x="548640" y="1645920"/>
            <a:ext cx="2011680" cy="13716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1</a:t>
            </a:r>
          </a:p>
        </p:txBody>
      </p:sp>
      <p:sp>
        <p:nvSpPr>
          <p:cNvPr id="4" name="TextBox 3"/>
          <p:cNvSpPr txBox="1"/>
          <p:nvPr/>
        </p:nvSpPr>
        <p:spPr>
          <a:xfrm>
            <a:off x="548640" y="3200400"/>
            <a:ext cx="2011680" cy="914400"/>
          </a:xfrm>
          <a:prstGeom prst="rect">
            <a:avLst/>
          </a:prstGeom>
          <a:noFill/>
        </p:spPr>
        <p:txBody>
          <a:bodyPr wrap="square">
            <a:spAutoFit/>
          </a:bodyPr>
          <a:lstStyle/>
          <a:p>
            <a:pPr algn="ctr">
              <a:defRPr sz="1400" b="0">
                <a:solidFill>
                  <a:srgbClr val="1E293B"/>
                </a:solidFill>
                <a:latin typeface="Calibri"/>
              </a:defRPr>
            </a:pPr>
            <a:r>
              <a:t>L'utilisateur saisit</a:t>
            </a:r>
            <a:br/>
            <a:r>
              <a:t>ses identifiants</a:t>
            </a:r>
          </a:p>
        </p:txBody>
      </p:sp>
      <p:sp>
        <p:nvSpPr>
          <p:cNvPr id="5" name="TextBox 4"/>
          <p:cNvSpPr txBox="1"/>
          <p:nvPr/>
        </p:nvSpPr>
        <p:spPr>
          <a:xfrm>
            <a:off x="2560320" y="2011680"/>
            <a:ext cx="274320" cy="457200"/>
          </a:xfrm>
          <a:prstGeom prst="rect">
            <a:avLst/>
          </a:prstGeom>
          <a:noFill/>
        </p:spPr>
        <p:txBody>
          <a:bodyPr wrap="square">
            <a:spAutoFit/>
          </a:bodyPr>
          <a:lstStyle/>
          <a:p>
            <a:pPr algn="ctr">
              <a:defRPr sz="2400" b="1">
                <a:solidFill>
                  <a:srgbClr val="64748B"/>
                </a:solidFill>
                <a:latin typeface="Calibri"/>
              </a:defRPr>
            </a:pPr>
            <a:r>
              <a:t>▶</a:t>
            </a:r>
          </a:p>
        </p:txBody>
      </p:sp>
      <p:sp>
        <p:nvSpPr>
          <p:cNvPr id="6" name="Rectangle 5"/>
          <p:cNvSpPr/>
          <p:nvPr/>
        </p:nvSpPr>
        <p:spPr>
          <a:xfrm>
            <a:off x="2834640" y="1645920"/>
            <a:ext cx="2011680" cy="13716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2</a:t>
            </a:r>
          </a:p>
        </p:txBody>
      </p:sp>
      <p:sp>
        <p:nvSpPr>
          <p:cNvPr id="7" name="TextBox 6"/>
          <p:cNvSpPr txBox="1"/>
          <p:nvPr/>
        </p:nvSpPr>
        <p:spPr>
          <a:xfrm>
            <a:off x="2834640" y="3200400"/>
            <a:ext cx="2011680" cy="914400"/>
          </a:xfrm>
          <a:prstGeom prst="rect">
            <a:avLst/>
          </a:prstGeom>
          <a:noFill/>
        </p:spPr>
        <p:txBody>
          <a:bodyPr wrap="square">
            <a:spAutoFit/>
          </a:bodyPr>
          <a:lstStyle/>
          <a:p>
            <a:pPr algn="ctr">
              <a:defRPr sz="1400" b="0">
                <a:solidFill>
                  <a:srgbClr val="1E293B"/>
                </a:solidFill>
                <a:latin typeface="Calibri"/>
              </a:defRPr>
            </a:pPr>
            <a:r>
              <a:t>Le backend vérifie</a:t>
            </a:r>
            <a:br/>
            <a:r>
              <a:t>et génère un JWT</a:t>
            </a:r>
          </a:p>
        </p:txBody>
      </p:sp>
      <p:sp>
        <p:nvSpPr>
          <p:cNvPr id="8" name="TextBox 7"/>
          <p:cNvSpPr txBox="1"/>
          <p:nvPr/>
        </p:nvSpPr>
        <p:spPr>
          <a:xfrm>
            <a:off x="4846320" y="2011680"/>
            <a:ext cx="274320" cy="457200"/>
          </a:xfrm>
          <a:prstGeom prst="rect">
            <a:avLst/>
          </a:prstGeom>
          <a:noFill/>
        </p:spPr>
        <p:txBody>
          <a:bodyPr wrap="square">
            <a:spAutoFit/>
          </a:bodyPr>
          <a:lstStyle/>
          <a:p>
            <a:pPr algn="ctr">
              <a:defRPr sz="2400" b="1">
                <a:solidFill>
                  <a:srgbClr val="64748B"/>
                </a:solidFill>
                <a:latin typeface="Calibri"/>
              </a:defRPr>
            </a:pPr>
            <a:r>
              <a:t>▶</a:t>
            </a:r>
          </a:p>
        </p:txBody>
      </p:sp>
      <p:sp>
        <p:nvSpPr>
          <p:cNvPr id="9" name="Rectangle 8"/>
          <p:cNvSpPr/>
          <p:nvPr/>
        </p:nvSpPr>
        <p:spPr>
          <a:xfrm>
            <a:off x="5120640" y="1645920"/>
            <a:ext cx="2011680" cy="13716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3</a:t>
            </a:r>
          </a:p>
        </p:txBody>
      </p:sp>
      <p:sp>
        <p:nvSpPr>
          <p:cNvPr id="10" name="TextBox 9"/>
          <p:cNvSpPr txBox="1"/>
          <p:nvPr/>
        </p:nvSpPr>
        <p:spPr>
          <a:xfrm>
            <a:off x="5120640" y="3200400"/>
            <a:ext cx="2011680" cy="914400"/>
          </a:xfrm>
          <a:prstGeom prst="rect">
            <a:avLst/>
          </a:prstGeom>
          <a:noFill/>
        </p:spPr>
        <p:txBody>
          <a:bodyPr wrap="square">
            <a:spAutoFit/>
          </a:bodyPr>
          <a:lstStyle/>
          <a:p>
            <a:pPr algn="ctr">
              <a:defRPr sz="1400" b="0">
                <a:solidFill>
                  <a:srgbClr val="1E293B"/>
                </a:solidFill>
                <a:latin typeface="Calibri"/>
              </a:defRPr>
            </a:pPr>
            <a:r>
              <a:t>Le frontend stocke</a:t>
            </a:r>
            <a:br/>
            <a:r>
              <a:t>le token JWT</a:t>
            </a:r>
          </a:p>
        </p:txBody>
      </p:sp>
      <p:sp>
        <p:nvSpPr>
          <p:cNvPr id="11" name="TextBox 10"/>
          <p:cNvSpPr txBox="1"/>
          <p:nvPr/>
        </p:nvSpPr>
        <p:spPr>
          <a:xfrm>
            <a:off x="7132320" y="2011680"/>
            <a:ext cx="274320" cy="457200"/>
          </a:xfrm>
          <a:prstGeom prst="rect">
            <a:avLst/>
          </a:prstGeom>
          <a:noFill/>
        </p:spPr>
        <p:txBody>
          <a:bodyPr wrap="square">
            <a:spAutoFit/>
          </a:bodyPr>
          <a:lstStyle/>
          <a:p>
            <a:pPr algn="ctr">
              <a:defRPr sz="2400" b="1">
                <a:solidFill>
                  <a:srgbClr val="64748B"/>
                </a:solidFill>
                <a:latin typeface="Calibri"/>
              </a:defRPr>
            </a:pPr>
            <a:r>
              <a:t>▶</a:t>
            </a:r>
          </a:p>
        </p:txBody>
      </p:sp>
      <p:sp>
        <p:nvSpPr>
          <p:cNvPr id="12" name="Rectangle 11"/>
          <p:cNvSpPr/>
          <p:nvPr/>
        </p:nvSpPr>
        <p:spPr>
          <a:xfrm>
            <a:off x="7406640" y="1645920"/>
            <a:ext cx="2011680"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4</a:t>
            </a:r>
          </a:p>
        </p:txBody>
      </p:sp>
      <p:sp>
        <p:nvSpPr>
          <p:cNvPr id="13" name="TextBox 12"/>
          <p:cNvSpPr txBox="1"/>
          <p:nvPr/>
        </p:nvSpPr>
        <p:spPr>
          <a:xfrm>
            <a:off x="7406640" y="3200400"/>
            <a:ext cx="2011680" cy="914400"/>
          </a:xfrm>
          <a:prstGeom prst="rect">
            <a:avLst/>
          </a:prstGeom>
          <a:noFill/>
        </p:spPr>
        <p:txBody>
          <a:bodyPr wrap="square">
            <a:spAutoFit/>
          </a:bodyPr>
          <a:lstStyle/>
          <a:p>
            <a:pPr algn="ctr">
              <a:defRPr sz="1400" b="0">
                <a:solidFill>
                  <a:srgbClr val="1E293B"/>
                </a:solidFill>
                <a:latin typeface="Calibri"/>
              </a:defRPr>
            </a:pPr>
            <a:r>
              <a:t>Le token est envoyé</a:t>
            </a:r>
            <a:br/>
            <a:r>
              <a:t>dans chaque requête</a:t>
            </a:r>
          </a:p>
        </p:txBody>
      </p:sp>
      <p:sp>
        <p:nvSpPr>
          <p:cNvPr id="14" name="TextBox 13"/>
          <p:cNvSpPr txBox="1"/>
          <p:nvPr/>
        </p:nvSpPr>
        <p:spPr>
          <a:xfrm>
            <a:off x="9418320" y="2011680"/>
            <a:ext cx="274320" cy="457200"/>
          </a:xfrm>
          <a:prstGeom prst="rect">
            <a:avLst/>
          </a:prstGeom>
          <a:noFill/>
        </p:spPr>
        <p:txBody>
          <a:bodyPr wrap="square">
            <a:spAutoFit/>
          </a:bodyPr>
          <a:lstStyle/>
          <a:p>
            <a:pPr algn="ctr">
              <a:defRPr sz="2400" b="1">
                <a:solidFill>
                  <a:srgbClr val="64748B"/>
                </a:solidFill>
                <a:latin typeface="Calibri"/>
              </a:defRPr>
            </a:pPr>
            <a:r>
              <a:t>▶</a:t>
            </a:r>
          </a:p>
        </p:txBody>
      </p:sp>
      <p:sp>
        <p:nvSpPr>
          <p:cNvPr id="15" name="Rectangle 14"/>
          <p:cNvSpPr/>
          <p:nvPr/>
        </p:nvSpPr>
        <p:spPr>
          <a:xfrm>
            <a:off x="9692640" y="1645920"/>
            <a:ext cx="2011680" cy="13716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5</a:t>
            </a:r>
          </a:p>
        </p:txBody>
      </p:sp>
      <p:sp>
        <p:nvSpPr>
          <p:cNvPr id="16" name="TextBox 15"/>
          <p:cNvSpPr txBox="1"/>
          <p:nvPr/>
        </p:nvSpPr>
        <p:spPr>
          <a:xfrm>
            <a:off x="9692640" y="3200400"/>
            <a:ext cx="2011680" cy="914400"/>
          </a:xfrm>
          <a:prstGeom prst="rect">
            <a:avLst/>
          </a:prstGeom>
          <a:noFill/>
        </p:spPr>
        <p:txBody>
          <a:bodyPr wrap="square">
            <a:spAutoFit/>
          </a:bodyPr>
          <a:lstStyle/>
          <a:p>
            <a:pPr algn="ctr">
              <a:defRPr sz="1400" b="0">
                <a:solidFill>
                  <a:srgbClr val="1E293B"/>
                </a:solidFill>
                <a:latin typeface="Calibri"/>
              </a:defRPr>
            </a:pPr>
            <a:r>
              <a:t>Le backend valide</a:t>
            </a:r>
            <a:br/>
            <a:r>
              <a:t>le token (Dependency)</a:t>
            </a:r>
          </a:p>
        </p:txBody>
      </p:sp>
      <p:sp>
        <p:nvSpPr>
          <p:cNvPr id="17" name="TextBox 16"/>
          <p:cNvSpPr txBox="1"/>
          <p:nvPr/>
        </p:nvSpPr>
        <p:spPr>
          <a:xfrm>
            <a:off x="731520" y="4754880"/>
            <a:ext cx="10058400" cy="731520"/>
          </a:xfrm>
          <a:prstGeom prst="rect">
            <a:avLst/>
          </a:prstGeom>
          <a:noFill/>
        </p:spPr>
        <p:txBody>
          <a:bodyPr wrap="square">
            <a:spAutoFit/>
          </a:bodyPr>
          <a:lstStyle/>
          <a:p>
            <a:pPr algn="l">
              <a:defRPr sz="1400" b="0">
                <a:solidFill>
                  <a:srgbClr val="64748B"/>
                </a:solidFill>
                <a:latin typeface="Calibri"/>
              </a:defRPr>
            </a:pPr>
            <a:r>
              <a:t>Mots de passe hachés avec bcrypt. Token JWT contient : sub (username), role, exp. Protection des routes via dépendances FastAPI.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1E40AF"/>
                </a:solidFill>
                <a:latin typeface="Calibri"/>
              </a:defRPr>
            </a:pPr>
            <a:r>
              <a:t>Gestion des Livres et Chatbot</a:t>
            </a:r>
          </a:p>
        </p:txBody>
      </p:sp>
      <p:sp>
        <p:nvSpPr>
          <p:cNvPr id="3" name="Rectangle 2"/>
          <p:cNvSpPr/>
          <p:nvPr/>
        </p:nvSpPr>
        <p:spPr>
          <a:xfrm>
            <a:off x="731520" y="1371600"/>
            <a:ext cx="5303520" cy="109728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Gestion des Livres</a:t>
            </a:r>
          </a:p>
          <a:p>
            <a:pPr algn="ctr"/>
            <a:r>
              <a:rPr sz="1100">
                <a:solidFill>
                  <a:srgbClr val="FFFFFF"/>
                </a:solidFill>
                <a:latin typeface="Calibri"/>
              </a:rPr>
              <a:t>CRUD complet + photos de couverture + recherche avancée</a:t>
            </a:r>
          </a:p>
        </p:txBody>
      </p:sp>
      <p:sp>
        <p:nvSpPr>
          <p:cNvPr id="4" name="Rectangle 3"/>
          <p:cNvSpPr/>
          <p:nvPr/>
        </p:nvSpPr>
        <p:spPr>
          <a:xfrm>
            <a:off x="731520" y="2743200"/>
            <a:ext cx="5303520" cy="10972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Recherche &amp; Filtres</a:t>
            </a:r>
          </a:p>
          <a:p>
            <a:pPr algn="ctr"/>
            <a:r>
              <a:rPr sz="1100">
                <a:solidFill>
                  <a:srgbClr val="FFFFFF"/>
                </a:solidFill>
                <a:latin typeface="Calibri"/>
              </a:rPr>
              <a:t>Par titre, auteur, catégorie, statut
Pagination (10 livres/page)</a:t>
            </a:r>
          </a:p>
        </p:txBody>
      </p:sp>
      <p:sp>
        <p:nvSpPr>
          <p:cNvPr id="5" name="Rectangle 4"/>
          <p:cNvSpPr/>
          <p:nvPr/>
        </p:nvSpPr>
        <p:spPr>
          <a:xfrm>
            <a:off x="731520" y="4114800"/>
            <a:ext cx="5303520" cy="109728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Photos de couverture</a:t>
            </a:r>
          </a:p>
          <a:p>
            <a:pPr algn="ctr"/>
            <a:r>
              <a:rPr sz="1100">
                <a:solidFill>
                  <a:srgbClr val="FFFFFF"/>
                </a:solidFill>
                <a:latin typeface="Calibri"/>
              </a:rPr>
              <a:t>Import JPEG, redimensionnement auto
affichage dans panneau latéral</a:t>
            </a:r>
          </a:p>
        </p:txBody>
      </p:sp>
      <p:sp>
        <p:nvSpPr>
          <p:cNvPr id="6" name="Rectangle 5"/>
          <p:cNvSpPr/>
          <p:nvPr/>
        </p:nvSpPr>
        <p:spPr>
          <a:xfrm>
            <a:off x="6583680" y="1371600"/>
            <a:ext cx="4846320"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Chatbot Intelligent</a:t>
            </a:r>
          </a:p>
          <a:p>
            <a:pPr algn="ctr"/>
            <a:r>
              <a:rPr sz="1100">
                <a:solidFill>
                  <a:srgbClr val="FFFFFF"/>
                </a:solidFill>
                <a:latin typeface="Calibri"/>
              </a:rPr>
              <a:t>Google Gemini AI + Fallback local</a:t>
            </a:r>
          </a:p>
        </p:txBody>
      </p:sp>
      <p:sp>
        <p:nvSpPr>
          <p:cNvPr id="7" name="Rectangle 6"/>
          <p:cNvSpPr/>
          <p:nvPr/>
        </p:nvSpPr>
        <p:spPr>
          <a:xfrm>
            <a:off x="6583680" y="2743200"/>
            <a:ext cx="4846320" cy="109728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Questions possibles</a:t>
            </a:r>
          </a:p>
          <a:p>
            <a:pPr algn="ctr"/>
            <a:r>
              <a:rPr sz="1100">
                <a:solidFill>
                  <a:srgbClr val="FFFFFF"/>
                </a:solidFill>
                <a:latin typeface="Calibri"/>
              </a:rPr>
              <a:t>Disponibilité, recommandations
recherche par auteur/catégorie</a:t>
            </a:r>
          </a:p>
        </p:txBody>
      </p:sp>
      <p:sp>
        <p:nvSpPr>
          <p:cNvPr id="8" name="Rectangle 7"/>
          <p:cNvSpPr/>
          <p:nvPr/>
        </p:nvSpPr>
        <p:spPr>
          <a:xfrm>
            <a:off x="6583680" y="4114800"/>
            <a:ext cx="4846320" cy="10972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Mode Fallback</a:t>
            </a:r>
          </a:p>
          <a:p>
            <a:pPr algn="ctr"/>
            <a:r>
              <a:rPr sz="1100">
                <a:solidFill>
                  <a:srgbClr val="FFFFFF"/>
                </a:solidFill>
                <a:latin typeface="Calibri"/>
              </a:rPr>
              <a:t>Mots-clés quand l'API IA
est indisponible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1E40AF"/>
                </a:solidFill>
                <a:latin typeface="Calibri"/>
              </a:defRPr>
            </a:pPr>
            <a:r>
              <a:t>Workflow Réservation et Emprunt</a:t>
            </a:r>
          </a:p>
        </p:txBody>
      </p:sp>
      <p:sp>
        <p:nvSpPr>
          <p:cNvPr id="3" name="Rectangle 2"/>
          <p:cNvSpPr/>
          <p:nvPr/>
        </p:nvSpPr>
        <p:spPr>
          <a:xfrm>
            <a:off x="457200" y="1645920"/>
            <a:ext cx="2011680" cy="164592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Réservation</a:t>
            </a:r>
          </a:p>
          <a:p>
            <a:pPr algn="ctr"/>
            <a:r>
              <a:rPr sz="1100">
                <a:solidFill>
                  <a:srgbClr val="FFFFFF"/>
                </a:solidFill>
                <a:latin typeface="Calibri"/>
              </a:rPr>
              <a:t>Membre réserve
(statut: pending)</a:t>
            </a:r>
          </a:p>
        </p:txBody>
      </p:sp>
      <p:sp>
        <p:nvSpPr>
          <p:cNvPr id="4" name="TextBox 3"/>
          <p:cNvSpPr txBox="1"/>
          <p:nvPr/>
        </p:nvSpPr>
        <p:spPr>
          <a:xfrm>
            <a:off x="2468880" y="2103120"/>
            <a:ext cx="274320" cy="457200"/>
          </a:xfrm>
          <a:prstGeom prst="rect">
            <a:avLst/>
          </a:prstGeom>
          <a:noFill/>
        </p:spPr>
        <p:txBody>
          <a:bodyPr wrap="square">
            <a:spAutoFit/>
          </a:bodyPr>
          <a:lstStyle/>
          <a:p>
            <a:pPr algn="ctr">
              <a:defRPr sz="2400" b="1">
                <a:solidFill>
                  <a:srgbClr val="64748B"/>
                </a:solidFill>
                <a:latin typeface="Calibri"/>
              </a:defRPr>
            </a:pPr>
            <a:r>
              <a:t>▶</a:t>
            </a:r>
          </a:p>
        </p:txBody>
      </p:sp>
      <p:sp>
        <p:nvSpPr>
          <p:cNvPr id="5" name="Rectangle 4"/>
          <p:cNvSpPr/>
          <p:nvPr/>
        </p:nvSpPr>
        <p:spPr>
          <a:xfrm>
            <a:off x="2743200" y="1645920"/>
            <a:ext cx="2011680" cy="16459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Acceptation</a:t>
            </a:r>
          </a:p>
          <a:p>
            <a:pPr algn="ctr"/>
            <a:r>
              <a:rPr sz="1100">
                <a:solidFill>
                  <a:srgbClr val="FFFFFF"/>
                </a:solidFill>
                <a:latin typeface="Calibri"/>
              </a:rPr>
              <a:t>Admin accepte
(statut: accepted)</a:t>
            </a:r>
          </a:p>
        </p:txBody>
      </p:sp>
      <p:sp>
        <p:nvSpPr>
          <p:cNvPr id="6" name="TextBox 5"/>
          <p:cNvSpPr txBox="1"/>
          <p:nvPr/>
        </p:nvSpPr>
        <p:spPr>
          <a:xfrm>
            <a:off x="4754880" y="2103120"/>
            <a:ext cx="274320" cy="457200"/>
          </a:xfrm>
          <a:prstGeom prst="rect">
            <a:avLst/>
          </a:prstGeom>
          <a:noFill/>
        </p:spPr>
        <p:txBody>
          <a:bodyPr wrap="square">
            <a:spAutoFit/>
          </a:bodyPr>
          <a:lstStyle/>
          <a:p>
            <a:pPr algn="ctr">
              <a:defRPr sz="2400" b="1">
                <a:solidFill>
                  <a:srgbClr val="64748B"/>
                </a:solidFill>
                <a:latin typeface="Calibri"/>
              </a:defRPr>
            </a:pPr>
            <a:r>
              <a:t>▶</a:t>
            </a:r>
          </a:p>
        </p:txBody>
      </p:sp>
      <p:sp>
        <p:nvSpPr>
          <p:cNvPr id="7" name="Rectangle 6"/>
          <p:cNvSpPr/>
          <p:nvPr/>
        </p:nvSpPr>
        <p:spPr>
          <a:xfrm>
            <a:off x="5029200" y="1645920"/>
            <a:ext cx="2011680" cy="1645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Retrait</a:t>
            </a:r>
          </a:p>
          <a:p>
            <a:pPr algn="ctr"/>
            <a:r>
              <a:rPr sz="1100">
                <a:solidFill>
                  <a:srgbClr val="FFFFFF"/>
                </a:solidFill>
                <a:latin typeface="Calibri"/>
              </a:rPr>
              <a:t>Retrait physique
(statut: borrowed)</a:t>
            </a:r>
          </a:p>
        </p:txBody>
      </p:sp>
      <p:sp>
        <p:nvSpPr>
          <p:cNvPr id="8" name="TextBox 7"/>
          <p:cNvSpPr txBox="1"/>
          <p:nvPr/>
        </p:nvSpPr>
        <p:spPr>
          <a:xfrm>
            <a:off x="7040880" y="2103120"/>
            <a:ext cx="274320" cy="457200"/>
          </a:xfrm>
          <a:prstGeom prst="rect">
            <a:avLst/>
          </a:prstGeom>
          <a:noFill/>
        </p:spPr>
        <p:txBody>
          <a:bodyPr wrap="square">
            <a:spAutoFit/>
          </a:bodyPr>
          <a:lstStyle/>
          <a:p>
            <a:pPr algn="ctr">
              <a:defRPr sz="2400" b="1">
                <a:solidFill>
                  <a:srgbClr val="64748B"/>
                </a:solidFill>
                <a:latin typeface="Calibri"/>
              </a:defRPr>
            </a:pPr>
            <a:r>
              <a:t>▶</a:t>
            </a:r>
          </a:p>
        </p:txBody>
      </p:sp>
      <p:sp>
        <p:nvSpPr>
          <p:cNvPr id="9" name="Rectangle 8"/>
          <p:cNvSpPr/>
          <p:nvPr/>
        </p:nvSpPr>
        <p:spPr>
          <a:xfrm>
            <a:off x="7315200" y="1645920"/>
            <a:ext cx="2011680" cy="16459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Suivi</a:t>
            </a:r>
          </a:p>
          <a:p>
            <a:pPr algn="ctr"/>
            <a:r>
              <a:rPr sz="1100">
                <a:solidFill>
                  <a:srgbClr val="FFFFFF"/>
                </a:solidFill>
                <a:latin typeface="Calibri"/>
              </a:rPr>
              <a:t>14 jours
Compte à rebours</a:t>
            </a:r>
          </a:p>
        </p:txBody>
      </p:sp>
      <p:sp>
        <p:nvSpPr>
          <p:cNvPr id="10" name="TextBox 9"/>
          <p:cNvSpPr txBox="1"/>
          <p:nvPr/>
        </p:nvSpPr>
        <p:spPr>
          <a:xfrm>
            <a:off x="9326880" y="2103120"/>
            <a:ext cx="274320" cy="457200"/>
          </a:xfrm>
          <a:prstGeom prst="rect">
            <a:avLst/>
          </a:prstGeom>
          <a:noFill/>
        </p:spPr>
        <p:txBody>
          <a:bodyPr wrap="square">
            <a:spAutoFit/>
          </a:bodyPr>
          <a:lstStyle/>
          <a:p>
            <a:pPr algn="ctr">
              <a:defRPr sz="2400" b="1">
                <a:solidFill>
                  <a:srgbClr val="64748B"/>
                </a:solidFill>
                <a:latin typeface="Calibri"/>
              </a:defRPr>
            </a:pPr>
            <a:r>
              <a:t>▶</a:t>
            </a:r>
          </a:p>
        </p:txBody>
      </p:sp>
      <p:sp>
        <p:nvSpPr>
          <p:cNvPr id="11" name="Rectangle 10"/>
          <p:cNvSpPr/>
          <p:nvPr/>
        </p:nvSpPr>
        <p:spPr>
          <a:xfrm>
            <a:off x="9601200" y="1645920"/>
            <a:ext cx="2011680" cy="16459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Retour</a:t>
            </a:r>
          </a:p>
          <a:p>
            <a:pPr algn="ctr"/>
            <a:r>
              <a:rPr sz="1100">
                <a:solidFill>
                  <a:srgbClr val="FFFFFF"/>
                </a:solidFill>
                <a:latin typeface="Calibri"/>
              </a:rPr>
              <a:t>Admin retourne
(statut: returned)</a:t>
            </a:r>
          </a:p>
        </p:txBody>
      </p:sp>
      <p:sp>
        <p:nvSpPr>
          <p:cNvPr id="12" name="TextBox 11"/>
          <p:cNvSpPr txBox="1"/>
          <p:nvPr/>
        </p:nvSpPr>
        <p:spPr>
          <a:xfrm>
            <a:off x="731520" y="4114800"/>
            <a:ext cx="10058400" cy="1371600"/>
          </a:xfrm>
          <a:prstGeom prst="rect">
            <a:avLst/>
          </a:prstGeom>
          <a:noFill/>
        </p:spPr>
        <p:txBody>
          <a:bodyPr wrap="square">
            <a:spAutoFit/>
          </a:bodyPr>
          <a:lstStyle/>
          <a:p>
            <a:pPr algn="l">
              <a:defRPr sz="1400" b="0">
                <a:solidFill>
                  <a:srgbClr val="64748B"/>
                </a:solidFill>
                <a:latin typeface="Calibri"/>
              </a:defRPr>
            </a:pPr>
            <a:r>
              <a:t>Délai de retrait : 48h max. Si non retiré, réservation auto-annulée.</a:t>
            </a:r>
            <a:br/>
            <a:r>
              <a:t>Emprunts en retard : coloration rouge dans l'interface.</a:t>
            </a:r>
            <a:br/>
            <a:r>
              <a:t>Quantité disponible décrémentée au retrait, incrémentée au retour.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1E40AF"/>
                </a:solidFill>
                <a:latin typeface="Calibri"/>
              </a:defRPr>
            </a:pPr>
            <a:r>
              <a:t>Interface Administrateur</a:t>
            </a:r>
          </a:p>
        </p:txBody>
      </p:sp>
      <p:sp>
        <p:nvSpPr>
          <p:cNvPr id="3" name="Rectangle 2"/>
          <p:cNvSpPr/>
          <p:nvPr/>
        </p:nvSpPr>
        <p:spPr>
          <a:xfrm>
            <a:off x="731520" y="1371600"/>
            <a:ext cx="5303520" cy="13716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Tableau de bord</a:t>
            </a:r>
          </a:p>
          <a:p>
            <a:pPr algn="ctr"/>
            <a:r>
              <a:rPr sz="1100">
                <a:solidFill>
                  <a:srgbClr val="FFFFFF"/>
                </a:solidFill>
                <a:latin typeface="Calibri"/>
              </a:rPr>
              <a:t>Statistiques : livres, utilisateurs,
réservations, catégories</a:t>
            </a:r>
          </a:p>
        </p:txBody>
      </p:sp>
      <p:sp>
        <p:nvSpPr>
          <p:cNvPr id="4" name="Rectangle 3"/>
          <p:cNvSpPr/>
          <p:nvPr/>
        </p:nvSpPr>
        <p:spPr>
          <a:xfrm>
            <a:off x="6400800" y="1371600"/>
            <a:ext cx="5303520" cy="13716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Gestion utilisateurs</a:t>
            </a:r>
          </a:p>
          <a:p>
            <a:pPr algn="ctr"/>
            <a:r>
              <a:rPr sz="1100">
                <a:solidFill>
                  <a:srgbClr val="FFFFFF"/>
                </a:solidFill>
                <a:latin typeface="Calibri"/>
              </a:rPr>
              <a:t>Liste complète des utilisateurs
avec rôles et statut</a:t>
            </a:r>
          </a:p>
        </p:txBody>
      </p:sp>
      <p:sp>
        <p:nvSpPr>
          <p:cNvPr id="5" name="Rectangle 4"/>
          <p:cNvSpPr/>
          <p:nvPr/>
        </p:nvSpPr>
        <p:spPr>
          <a:xfrm>
            <a:off x="731520" y="3017520"/>
            <a:ext cx="5303520" cy="13716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Réservations</a:t>
            </a:r>
          </a:p>
          <a:p>
            <a:pPr algn="ctr"/>
            <a:r>
              <a:rPr sz="1100">
                <a:solidFill>
                  <a:srgbClr val="FFFFFF"/>
                </a:solidFill>
                <a:latin typeface="Calibri"/>
              </a:rPr>
              <a:t>Accepter / Rejeter les demandes
des membres</a:t>
            </a:r>
          </a:p>
        </p:txBody>
      </p:sp>
      <p:sp>
        <p:nvSpPr>
          <p:cNvPr id="6" name="Rectangle 5"/>
          <p:cNvSpPr/>
          <p:nvPr/>
        </p:nvSpPr>
        <p:spPr>
          <a:xfrm>
            <a:off x="6400800" y="3017520"/>
            <a:ext cx="5303520"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Emprunts</a:t>
            </a:r>
          </a:p>
          <a:p>
            <a:pPr algn="ctr"/>
            <a:r>
              <a:rPr sz="1100">
                <a:solidFill>
                  <a:srgbClr val="FFFFFF"/>
                </a:solidFill>
                <a:latin typeface="Calibri"/>
              </a:rPr>
              <a:t>Vue complète de tous les emprunts
recherche par utilisateur</a:t>
            </a:r>
          </a:p>
        </p:txBody>
      </p:sp>
      <p:sp>
        <p:nvSpPr>
          <p:cNvPr id="7" name="Rectangle 6"/>
          <p:cNvSpPr/>
          <p:nvPr/>
        </p:nvSpPr>
        <p:spPr>
          <a:xfrm>
            <a:off x="731520" y="4663440"/>
            <a:ext cx="5303520" cy="13716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Borrow Requests</a:t>
            </a:r>
          </a:p>
          <a:p>
            <a:pPr algn="ctr"/>
            <a:r>
              <a:rPr sz="1100">
                <a:solidFill>
                  <a:srgbClr val="FFFFFF"/>
                </a:solidFill>
                <a:latin typeface="Calibri"/>
              </a:rPr>
              <a:t>Confirmer le retrait physique
des livres acceptés</a:t>
            </a:r>
          </a:p>
        </p:txBody>
      </p:sp>
      <p:sp>
        <p:nvSpPr>
          <p:cNvPr id="8" name="Rectangle 7"/>
          <p:cNvSpPr/>
          <p:nvPr/>
        </p:nvSpPr>
        <p:spPr>
          <a:xfrm>
            <a:off x="6400800" y="4663440"/>
            <a:ext cx="5303520" cy="13716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pPr>
            <a:r>
              <a:rPr sz="1600" b="1">
                <a:solidFill>
                  <a:srgbClr val="FFFFFF"/>
                </a:solidFill>
                <a:latin typeface="Calibri"/>
              </a:rPr>
              <a:t>📤  Retours</a:t>
            </a:r>
          </a:p>
          <a:p>
            <a:pPr algn="ctr"/>
            <a:r>
              <a:rPr sz="1100">
                <a:solidFill>
                  <a:srgbClr val="FFFFFF"/>
                </a:solidFill>
                <a:latin typeface="Calibri"/>
              </a:rPr>
              <a:t>Enregistrer les retours
de livres empruntés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293B"/>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FFFFFF"/>
                </a:solidFill>
                <a:latin typeface="Calibri"/>
              </a:defRPr>
            </a:pPr>
            <a:r>
              <a:t>Conclusion et Perspectives</a:t>
            </a:r>
          </a:p>
        </p:txBody>
      </p:sp>
      <p:sp>
        <p:nvSpPr>
          <p:cNvPr id="3" name="TextBox 2"/>
          <p:cNvSpPr txBox="1"/>
          <p:nvPr/>
        </p:nvSpPr>
        <p:spPr>
          <a:xfrm>
            <a:off x="914400" y="1463040"/>
            <a:ext cx="10058400" cy="731520"/>
          </a:xfrm>
          <a:prstGeom prst="rect">
            <a:avLst/>
          </a:prstGeom>
          <a:noFill/>
        </p:spPr>
        <p:txBody>
          <a:bodyPr wrap="square">
            <a:spAutoFit/>
          </a:bodyPr>
          <a:lstStyle/>
          <a:p>
            <a:pPr algn="l">
              <a:defRPr sz="2400" b="1">
                <a:solidFill>
                  <a:srgbClr val="2563EB"/>
                </a:solidFill>
                <a:latin typeface="Calibri"/>
              </a:defRPr>
            </a:pPr>
            <a:r>
              <a:t>Bilan du Projet</a:t>
            </a:r>
          </a:p>
        </p:txBody>
      </p:sp>
      <p:sp>
        <p:nvSpPr>
          <p:cNvPr id="4" name="TextBox 3"/>
          <p:cNvSpPr txBox="1"/>
          <p:nvPr/>
        </p:nvSpPr>
        <p:spPr>
          <a:xfrm>
            <a:off x="1097280" y="2286000"/>
            <a:ext cx="10058400" cy="2286000"/>
          </a:xfrm>
          <a:prstGeom prst="rect">
            <a:avLst/>
          </a:prstGeom>
          <a:noFill/>
        </p:spPr>
        <p:txBody>
          <a:bodyPr wrap="square">
            <a:spAutoFit/>
          </a:bodyPr>
          <a:lstStyle/>
          <a:p>
            <a:pPr>
              <a:spcAft>
                <a:spcPts val="800"/>
              </a:spcAft>
              <a:defRPr sz="1600">
                <a:solidFill>
                  <a:srgbClr val="FFFFFF"/>
                </a:solidFill>
                <a:latin typeface="Calibri"/>
              </a:defRPr>
            </a:pPr>
            <a:r>
              <a:t>Application complète, fonctionnelle et professionnelle</a:t>
            </a:r>
          </a:p>
          <a:p>
            <a:pPr>
              <a:spcAft>
                <a:spcPts val="800"/>
              </a:spcAft>
              <a:defRPr sz="1600">
                <a:solidFill>
                  <a:srgbClr val="FFFFFF"/>
                </a:solidFill>
                <a:latin typeface="Calibri"/>
              </a:defRPr>
            </a:pPr>
            <a:r>
              <a:t>Architecture modulaire et extensible (backend/frontend séparés)</a:t>
            </a:r>
          </a:p>
          <a:p>
            <a:pPr>
              <a:spcAft>
                <a:spcPts val="800"/>
              </a:spcAft>
              <a:defRPr sz="1600">
                <a:solidFill>
                  <a:srgbClr val="FFFFFF"/>
                </a:solidFill>
                <a:latin typeface="Calibri"/>
              </a:defRPr>
            </a:pPr>
            <a:r>
              <a:t>Interface utilisateur moderne avec navigation intuitive</a:t>
            </a:r>
          </a:p>
          <a:p>
            <a:pPr>
              <a:spcAft>
                <a:spcPts val="800"/>
              </a:spcAft>
              <a:defRPr sz="1600">
                <a:solidFill>
                  <a:srgbClr val="FFFFFF"/>
                </a:solidFill>
                <a:latin typeface="Calibri"/>
              </a:defRPr>
            </a:pPr>
            <a:r>
              <a:t>Chatbot IA intégré (Google Gemini) avec fallback intelligent</a:t>
            </a:r>
          </a:p>
          <a:p>
            <a:pPr>
              <a:spcAft>
                <a:spcPts val="800"/>
              </a:spcAft>
              <a:defRPr sz="1600">
                <a:solidFill>
                  <a:srgbClr val="FFFFFF"/>
                </a:solidFill>
                <a:latin typeface="Calibri"/>
              </a:defRPr>
            </a:pPr>
            <a:r>
              <a:t>Système de gestion complet : livres, réservations, emprunts, utilisateurs</a:t>
            </a:r>
          </a:p>
        </p:txBody>
      </p:sp>
      <p:sp>
        <p:nvSpPr>
          <p:cNvPr id="5" name="TextBox 4"/>
          <p:cNvSpPr txBox="1"/>
          <p:nvPr/>
        </p:nvSpPr>
        <p:spPr>
          <a:xfrm>
            <a:off x="914400" y="4389120"/>
            <a:ext cx="10058400" cy="731520"/>
          </a:xfrm>
          <a:prstGeom prst="rect">
            <a:avLst/>
          </a:prstGeom>
          <a:noFill/>
        </p:spPr>
        <p:txBody>
          <a:bodyPr wrap="square">
            <a:spAutoFit/>
          </a:bodyPr>
          <a:lstStyle/>
          <a:p>
            <a:pPr algn="l">
              <a:defRPr sz="2400" b="1">
                <a:solidFill>
                  <a:srgbClr val="F59E0B"/>
                </a:solidFill>
                <a:latin typeface="Calibri"/>
              </a:defRPr>
            </a:pPr>
            <a:r>
              <a:t>Perspectives d'Amélioration</a:t>
            </a:r>
          </a:p>
        </p:txBody>
      </p:sp>
      <p:sp>
        <p:nvSpPr>
          <p:cNvPr id="6" name="TextBox 5"/>
          <p:cNvSpPr txBox="1"/>
          <p:nvPr/>
        </p:nvSpPr>
        <p:spPr>
          <a:xfrm>
            <a:off x="1097280" y="5029200"/>
            <a:ext cx="10058400" cy="1828800"/>
          </a:xfrm>
          <a:prstGeom prst="rect">
            <a:avLst/>
          </a:prstGeom>
          <a:noFill/>
        </p:spPr>
        <p:txBody>
          <a:bodyPr wrap="square">
            <a:spAutoFit/>
          </a:bodyPr>
          <a:lstStyle/>
          <a:p>
            <a:pPr>
              <a:spcAft>
                <a:spcPts val="800"/>
              </a:spcAft>
              <a:defRPr sz="1400">
                <a:solidFill>
                  <a:srgbClr val="64748B"/>
                </a:solidFill>
                <a:latin typeface="Calibri"/>
              </a:defRPr>
            </a:pPr>
            <a:r>
              <a:t>Notifications email automatiques (retards, confirmations)</a:t>
            </a:r>
          </a:p>
          <a:p>
            <a:pPr>
              <a:spcAft>
                <a:spcPts val="800"/>
              </a:spcAft>
              <a:defRPr sz="1400">
                <a:solidFill>
                  <a:srgbClr val="64748B"/>
                </a:solidFill>
                <a:latin typeface="Calibri"/>
              </a:defRPr>
            </a:pPr>
            <a:r>
              <a:t>Module de pénalités pour retards de retour</a:t>
            </a:r>
          </a:p>
          <a:p>
            <a:pPr>
              <a:spcAft>
                <a:spcPts val="800"/>
              </a:spcAft>
              <a:defRPr sz="1400">
                <a:solidFill>
                  <a:srgbClr val="64748B"/>
                </a:solidFill>
                <a:latin typeface="Calibri"/>
              </a:defRPr>
            </a:pPr>
            <a:r>
              <a:t>Génération de codes-barres / QR codes pour les livres</a:t>
            </a:r>
          </a:p>
          <a:p>
            <a:pPr>
              <a:spcAft>
                <a:spcPts val="800"/>
              </a:spcAft>
              <a:defRPr sz="1400">
                <a:solidFill>
                  <a:srgbClr val="64748B"/>
                </a:solidFill>
                <a:latin typeface="Calibri"/>
              </a:defRPr>
            </a:pPr>
            <a:r>
              <a:t>Export PDF des rapports et statistiques</a:t>
            </a:r>
          </a:p>
          <a:p>
            <a:pPr>
              <a:spcAft>
                <a:spcPts val="800"/>
              </a:spcAft>
              <a:defRPr sz="1400">
                <a:solidFill>
                  <a:srgbClr val="64748B"/>
                </a:solidFill>
                <a:latin typeface="Calibri"/>
              </a:defRPr>
            </a:pPr>
            <a:r>
              <a:t>Mode sombre et support multilingue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293B"/>
        </a:solidFill>
        <a:effectLst/>
      </p:bgPr>
    </p:bg>
    <p:spTree>
      <p:nvGrpSpPr>
        <p:cNvPr id="1" name=""/>
        <p:cNvGrpSpPr/>
        <p:nvPr/>
      </p:nvGrpSpPr>
      <p:grpSpPr/>
      <p:sp>
        <p:nvSpPr>
          <p:cNvPr id="2" name="TextBox 1"/>
          <p:cNvSpPr txBox="1"/>
          <p:nvPr/>
        </p:nvSpPr>
        <p:spPr>
          <a:xfrm>
            <a:off x="914400" y="2286000"/>
            <a:ext cx="10058400" cy="914400"/>
          </a:xfrm>
          <a:prstGeom prst="rect">
            <a:avLst/>
          </a:prstGeom>
          <a:noFill/>
        </p:spPr>
        <p:txBody>
          <a:bodyPr wrap="square">
            <a:spAutoFit/>
          </a:bodyPr>
          <a:lstStyle/>
          <a:p>
            <a:pPr algn="ctr">
              <a:defRPr sz="4400" b="1">
                <a:solidFill>
                  <a:srgbClr val="FFFFFF"/>
                </a:solidFill>
                <a:latin typeface="Calibri"/>
              </a:defRPr>
            </a:pPr>
            <a:r>
              <a:t>Merci pour votre attention</a:t>
            </a:r>
          </a:p>
        </p:txBody>
      </p:sp>
      <p:sp>
        <p:nvSpPr>
          <p:cNvPr id="3" name="Rectangle 2"/>
          <p:cNvSpPr/>
          <p:nvPr/>
        </p:nvSpPr>
        <p:spPr>
          <a:xfrm>
            <a:off x="5029200" y="3474720"/>
            <a:ext cx="21031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840480"/>
            <a:ext cx="10058400" cy="548640"/>
          </a:xfrm>
          <a:prstGeom prst="rect">
            <a:avLst/>
          </a:prstGeom>
          <a:noFill/>
        </p:spPr>
        <p:txBody>
          <a:bodyPr wrap="square">
            <a:spAutoFit/>
          </a:bodyPr>
          <a:lstStyle/>
          <a:p>
            <a:pPr algn="ctr">
              <a:defRPr sz="2200" b="0">
                <a:solidFill>
                  <a:srgbClr val="64748B"/>
                </a:solidFill>
                <a:latin typeface="Calibri"/>
              </a:defRPr>
            </a:pPr>
            <a:r>
              <a:t>Smart Library Management System</a:t>
            </a:r>
          </a:p>
        </p:txBody>
      </p:sp>
      <p:sp>
        <p:nvSpPr>
          <p:cNvPr id="5" name="TextBox 4"/>
          <p:cNvSpPr txBox="1"/>
          <p:nvPr/>
        </p:nvSpPr>
        <p:spPr>
          <a:xfrm>
            <a:off x="914400" y="4480560"/>
            <a:ext cx="10058400" cy="365760"/>
          </a:xfrm>
          <a:prstGeom prst="rect">
            <a:avLst/>
          </a:prstGeom>
          <a:noFill/>
        </p:spPr>
        <p:txBody>
          <a:bodyPr wrap="square">
            <a:spAutoFit/>
          </a:bodyPr>
          <a:lstStyle/>
          <a:p>
            <a:pPr algn="ctr">
              <a:defRPr sz="1800" b="0">
                <a:solidFill>
                  <a:srgbClr val="2563EB"/>
                </a:solidFill>
                <a:latin typeface="Calibri"/>
              </a:defRPr>
            </a:pPr>
            <a:r>
              <a:t>Questions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